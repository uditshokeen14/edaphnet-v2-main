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63" r:id="rId3"/>
    <p:sldId id="257" r:id="rId4"/>
    <p:sldId id="258" r:id="rId5"/>
    <p:sldId id="259" r:id="rId6"/>
    <p:sldId id="271" r:id="rId7"/>
    <p:sldId id="260" r:id="rId8"/>
    <p:sldId id="261" r:id="rId9"/>
    <p:sldId id="275" r:id="rId10"/>
    <p:sldId id="276" r:id="rId11"/>
    <p:sldId id="277" r:id="rId12"/>
    <p:sldId id="264" r:id="rId13"/>
    <p:sldId id="265" r:id="rId14"/>
    <p:sldId id="266" r:id="rId15"/>
    <p:sldId id="270" r:id="rId16"/>
    <p:sldId id="278" r:id="rId17"/>
    <p:sldId id="272" r:id="rId18"/>
    <p:sldId id="273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the template sample image with a screenshot of the actual approval mail from Dr. Saminathan showing your Project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plainly that the soil classifier is a commodity component and no novelty is claimed for it — six prior papers cover these four classes. The contribution is the audit, the marginalisation and the abstention.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this slide if you can. It is reproducible by running one script and it reframes every later question about accuracy. It is a set-membership test, not a statistical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22960" y="1554480"/>
            <a:ext cx="10515600" cy="1874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Calibri"/>
              </a:defRPr>
            </a:pPr>
            <a:r>
              <a:t>B.Tech  |  BCSE497J – Project-I (Final Review — Review 3)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2300" b="1">
                <a:solidFill>
                  <a:srgbClr val="0E2B5C"/>
                </a:solidFill>
                <a:latin typeface="Calibri"/>
              </a:defRPr>
            </a:pPr>
            <a:r>
              <a:t>AgriSense AI: An Explainable Smart Crop Health Management System</a:t>
            </a:r>
          </a:p>
          <a:p>
            <a:pPr>
              <a:spcBef>
                <a:spcPts val="300"/>
              </a:spcBef>
              <a:defRPr sz="1250" i="1">
                <a:solidFill>
                  <a:srgbClr val="008080"/>
                </a:solidFill>
                <a:latin typeface="Calibri"/>
              </a:defRPr>
            </a:pPr>
            <a:r>
              <a:t>Cyber-Physical Verification of Soil Laboratory Reports via Optical Witnesses &amp; Conformal Calibration (EdaphNet Engine)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6040" y="3703320"/>
            <a:ext cx="7068312" cy="2377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defRPr sz="1100" b="1">
                <a:solidFill>
                  <a:srgbClr val="0E2B5C"/>
                </a:solidFill>
                <a:latin typeface="Calibri"/>
              </a:defRPr>
            </a:pPr>
            <a:r>
              <a:t>Project ID: BCSE497J-P1-2026-SCOPE-042  |  Date: 28 October 2026</a:t>
            </a:r>
            <a:endParaRPr sz="1800" dirty="0">
              <a:latin typeface="Times New Roman"/>
              <a:cs typeface="Times New Roman"/>
            </a:endParaRP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Team Members (School of Computer Science and Engineering):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   1. Udit Shokeen (Reg. No: 23BCB0001) — B.Tech CSE (Bioinformatics)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   2. Armaan Srivastava (Reg. No: 23BCE2318) — B.Tech Computer Science and Engineering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   3. Sudeep Sharma (Reg. No: 23BDS0315) — B.Tech CSE (Data Science)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Calibri"/>
              </a:defRPr>
            </a:pPr>
            <a:r>
              <a:t>Faculty Guide &amp; Supervisor: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   Dr. Priya Saminathan, Associate Professor / Senior Member, IEEE</a:t>
            </a:r>
            <a:br/>
            <a:r>
              <a:t>   Department of Computational Intelligence, SCOPE, VIT Vellore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Problem Statement &amp; Practical Motivation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Agronomic &amp; Economic Stakes of Soil Testing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Soil test reports govern billion-dollar downstream interventions: chemical fertiliser blends (NPK), agricultural lime dosage, and regulated soil carbon credits.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High Inter-Laboratory Inconsistency: A rigorous proficiency trial across 8 commercial soil testing laboratories found that 28% of reported soil organic carbon (SOC) values fell outside acceptable bounds (Even et al., SOIL 2025).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Unilateral Farmer Exposure: Farmers and agronomists receive isolated numerical certificates without any independent means to verify whether the report is valid for their physical soil sample.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Economic Bottleneck of 100% Retesting: Analyzing every sample in duplicate doubles chemical reagent, technician, and instrument costs (&gt; $50/sample). Laboratories urgently need a prioritized top-5% re-test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The Dual Laboratory Failure Modes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Failure Mode 1: Physical Sample Swaps (Invisible to Conventional QA)</a:t>
            </a:r>
            <a:br/>
            <a:r>
              <a:t>  • Occurs via tube mislabelling, rack transpositions, or robotic 1-well tray shifts.</a:t>
            </a:r>
            <a:br/>
            <a:r>
              <a:t>  • Critically, a swapped report contains chemically valid data of a real soil.</a:t>
            </a:r>
            <a:br/>
            <a:r>
              <a:t>  • Result: All univariate range checks, stoichiometric rules, and multivariate density checks pass 100% cleanly! Only physical observation of the sample can reveal the mismatch.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Failure Mode 2: Typed Numerical Corruptions</a:t>
            </a:r>
            <a:br/>
            <a:r>
              <a:t>  • Manual transcription or automated data transfer slips: decimal shifts (x10, /10), unit confusion (% vs g/kg), transposed digits (0.16 -&gt; 0.61), or column interchanges.</a:t>
            </a:r>
            <a:br/>
            <a:r>
              <a:t>  • Often fall inside plausible regional boundaries and evade crude range filters.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The Epistemic Gap: Conventional quality assurance operates purely in 'report space'; AgriSense AI bridges the cyber-physical gap by leveraging an optical witness.</a:t>
            </a:r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Objectives &amp; Scope of Project-I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6583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Formal Research Objectives (RO1 – RO5)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RO1 [Bayesian Batch Model]: Formulate exact Bayesian joint inference over a structured 281-permutation tray hypothesis space (S_tray) and a 5-group typed numerical corruption library (C).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RO2 [Multi-Analyte Stoichiometric Modeling]: Construct a multi-property latent Gaussian model with LightGBM predictive mean and full out-of-fold covariance (Sigma) to detect inter-analyte contradictions.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RO3 [Distribution-Free Calibration]: Implement finite-sample conformal calibration guaranteeing empirical False Discovery Rate control (q = 0.10) under rigorous non-exchangeability diagnostics.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RO4 [Pre-Registered Benchmarking]: Evaluate detection recall at 5% re-test budget against 8 baseline algorithms across 23,219 real soils from KSSL and ICRAF-ISRIC under committed Git rules.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RO5 [Root-Cause Attribution &amp; Edge Deployment]: Accurately diagnose error type (swap vs value slip), identify swap partners, propose numerical repairs, and achieve &lt; 20 ms batch inference on consumer CPU.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188720"/>
            <a:ext cx="36576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Project Scope &amp; Explicit Boundaries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In Scope (Project-I Deliverables):</a:t>
            </a:r>
            <a:br/>
            <a:r>
              <a:t>  • Laboratory-grade Vis-NIR spectra &amp; CIELAB colour space (D65/2°).</a:t>
            </a:r>
            <a:br/>
            <a:r>
              <a:t>  • Sensor noise simulation (phone camera Delta E = 0, 2, 4, 8).</a:t>
            </a:r>
            <a:br/>
            <a:r>
              <a:t>  • 23,219 real soil samples with verified chemistry.</a:t>
            </a:r>
            <a:br/>
            <a:r>
              <a:t>  • Exact permutation Bayesian engine.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Deliberately Out of Scope:</a:t>
            </a:r>
            <a:br/>
            <a:r>
              <a:t>  • In-the-wild raw smartphone photos without calibration colour cards (requires Paper 2 field trial).</a:t>
            </a:r>
            <a:br/>
            <a:r>
              <a:t>  • Unrecorded field lab errors (addressed via rigorous seeded error injection protocols).</a:t>
            </a:r>
            <a:br/>
            <a:r>
              <a:t>  • Indian agro-climatic zones (planned for Paper 2 pilot with VIT VAIAL laboratory).</a:t>
            </a:r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Literature Survey &amp; Research Gap Analysis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80160"/>
                <a:gridCol w="1371600"/>
                <a:gridCol w="1371600"/>
                <a:gridCol w="1371600"/>
                <a:gridCol w="1280160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 / System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Witness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Swap Inference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Typed Attribution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Conformal FDR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 Addressed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Even et al. (SOIL 2025)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Soil Chemistry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Demonstrated 28% inter-lab error in SOC; lacks autoverification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LandPKS / Viscarra (2016)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Soil Sensing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Phone / Vis-NIR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Predicts properties; cannot verify or audit laboratory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Rosenbaum &amp; Baron (2018)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Clinical Pathology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(Delta)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Pairwise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Requires rich longitudinal patient history; inapplicable to field soil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Broman et al. (G3 2015)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Genomics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Genotype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Hungarian 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Requires near-perfect witness; ignores numerical reporting corruptions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Zhou et al. Cleanlab (2023)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Machine 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Score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 residual scoring; cannot resolve sample swaps or tray shifts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Bates et al. (Ann. Stat.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Conformal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Theory (FDR)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General outlier testing; susceptible to batch pseudo-replication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AgriSense AI (EdaphNet)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Cyber-Physical QA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Colour &amp; Vis-NIR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Exact Joint S_tray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97-100% Attribution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Strict Sample-Level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Unified joint batch autoverification, attribution, and repair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297680"/>
            <a:ext cx="105156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Key Identified Research Gaps (G1 – G4)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G1 (Absence of Physical Witness): Prior autoverification relies strictly on report internal consistency, leaving sample swaps completely undetected.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G2 (No Joint Batch Formulation): Genomic tools detect swaps only; clinical tools detect isolated drifts. No system models both swaps and value corruptions jointly.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G3 (Lack of Actionable Attribution): Existing error detectors output an uninterpretable anomaly score without naming the fault type or recommending a repair.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G4 (Conformal Pseudo-Replication): Standard multi-sample calibration breaks down when calibration samples are re-used across batches, inflating FDR to 57%.</a:t>
            </a: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System Architecture: Dual-Pipeline Framework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pic>
        <p:nvPicPr>
          <p:cNvPr id="11" name="Picture 10" descr="fig0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217920" cy="4389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0" y="1188720"/>
            <a:ext cx="41148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Architectural Decoupling &amp; Responsibilities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Dual-Pipeline Organization:</a:t>
            </a:r>
            <a:br/>
            <a:r>
              <a:t>  1. Offline Research &amp; Calibration Pipeline: Generates location-disjoint splits, trains LightGBM latent models, fits out-of-fold covariance, and establishes exchangeable conformal sets.</a:t>
            </a:r>
            <a:br/>
            <a:r>
              <a:t>  2. Cyber-Physical Runtime Pipeline: Evaluates physical samples alongside electronic laboratory batches in real time.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Core Runtime Execution Flow:</a:t>
            </a:r>
            <a:br/>
            <a:r>
              <a:t>  • Physical sample arrives -&gt; Optical witness acquired (phone colour or spectrum).</a:t>
            </a:r>
            <a:br/>
            <a:r>
              <a:t>  • Prior latent prediction: p(z|w) = N(mu(w), Sigma).</a:t>
            </a:r>
            <a:br/>
            <a:r>
              <a:t>  • Laboratory analytical batch printed (24 reports).</a:t>
            </a:r>
            <a:br/>
            <a:r>
              <a:t>  • Joint inference engine computes likelihood matrix L(j, i) across 281 permutations in S_tray and error library C.</a:t>
            </a:r>
            <a:br/>
            <a:r>
              <a:t>  • Outputs: Suspicion score s_j, fault attribution, candidate correction T_c^{-1}(r_j), and prioritized 5% re-test list.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Computational Speed: Full 24-well batch inference executes in 17.9 ± 1.2 ms on AMD Ryzen 5 7520U CPU.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Data Engineering &amp; Multi-Modal Datasets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1828800"/>
                <a:gridCol w="2377440"/>
                <a:gridCol w="2103120"/>
              </a:tblGrid>
              <a:tr h="594360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Geographic Scope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Samples / Profiles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Measured Laboratory Properties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 in EdaphNet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KSSL Vis-NIR (OSSL v1.2)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United States (Continental)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19,746 samples</a:t>
                      </a:r>
                      <a:br/>
                      <a:r>
                        <a:t>(6,999 locations)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Organic Carbon (OC), Total Nitrogen (N),</a:t>
                      </a:r>
                      <a:br/>
                      <a:r>
                        <a:t>Total Carbon (Ctot), Vis-NIR spectrum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Pre-registered benchmark (X5), unknown error test (X7), live demo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ICRAF-ISRIC (OSSL v1.2)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Sub-Saharan Africa (18 nations)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3,473 samples</a:t>
                      </a:r>
                      <a:br/>
                      <a:r>
                        <a:t>(553 profiles)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pH, OC, Clay, Sand, CEC, Ca, Mg, K,</a:t>
                      </a:r>
                      <a:br/>
                      <a:r>
                        <a:t>Vis-NIR diffuse reflectance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Initial real evaluation (X3), calibration diagnostic (X4), cross-continent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Synthetic T0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Controlled Copula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7,200 simulated batches</a:t>
                      </a:r>
                      <a:br/>
                      <a:r>
                        <a:t>(30 parameter settings)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 correlated properties with parametric</a:t>
                      </a:r>
                      <a:br/>
                      <a:r>
                        <a:t>witness informativeness lambda in [0, 4]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Theoretical mechanism verification (X1) &amp; swap attribution bounds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3749039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The 5-Tier Optical Witness Ladder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W0 (No Witness): Pure laboratory chemistry baseline.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W1 (CIELAB Colour): L*a*b* under D65 illuminant with camera noise Delta E in {0, 2, 4, 8} (Delta E = 2 corresponds to high-end phone).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W2 (10-Band Visible): Discrete visible multispectral bands.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W3 (Vis-NIR Spectrometer): 100 principal components of 350-2500 nm diffuse reflectance.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749039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Rigorous Leakage-Free Quality Controls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Location-Disjoint Splitting: Partitioned 50% Train / 15% Calibration / 35% Test strictly by spatial profile ID to prevent spatial autocorrelation leakage.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Forensic OSSL Cleaning: Identified and eliminated 23,852 empty spectral rows present in raw metadata tables (Decision D-008).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Rebuild Checksum Verification: Rebuilding dataset from scratch yields bit-identical MD5 hashes across all 10 numpy arrays.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End-to-End Operational Workflow &amp; Triage Policy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Step 1: Optical Sensing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Physical soil sample observed prior to chemical analysis.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Smartphone camera with 24-patch Macbeth card or Vis-NIR probe.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Colorimetric calibration: D65/2° CIELAB (L*, a*, b*).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887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Step 2: Latent Property Mapping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Predicts property distributions on Gaussian latent scale.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Trained LightGBM regressors yield mean mu(w_i).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Full residual covariance Sigma captures inter-analyte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59" y="11887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Step 3: Joint Batch Bayesian Inference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All 24 batch reports scored jointly across S_tray (281 hypotheses).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Evaluates likelihood L(j, i) against 5-group error library C.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Calculates exact posterior P(pi | R, W) and report suspicion s_j.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19" y="11887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Step 4: Actionable Laboratory Decision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Top-5% Re-test Queue: Flags most suspicious samples for re-run.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Conformal P-values: Guarantees FDR &lt;= 0.10 via BH step-up.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Attribution &amp; Repair: Emits swap partner or proposed value T_c^{-1}.</a:t>
            </a:r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Methodology: Multi-Property Latent Gaussian Model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Latent Gaussian Formulation &amp; Quantile Mapping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Standardization via Monotonic Quantile Scalers:</a:t>
            </a:r>
            <a:br/>
            <a:r>
              <a:t>  • Chemical measurements (OC, N, Ctot, pH) follow highly skewed, non-Gaussian distributions across orders of magnitude.</a:t>
            </a:r>
            <a:br/>
            <a:r>
              <a:t>  • We apply strictly monotonic empirical quantile scalers g_p(r_p) to project reports onto standardized latent variables:</a:t>
            </a:r>
            <a:br/>
            <a:r>
              <a:t>    z_p = g_p(r_p) ~ N(0, 1)  ==&gt;  z = g(r) ~ N(0, I)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Predictive Latent Conditional Distribution:</a:t>
            </a:r>
            <a:br/>
            <a:r>
              <a:t>  • Conditional on optical witness w_i, the joint latent properties follow a multivariate Gaussian distribution:</a:t>
            </a:r>
            <a:br/>
            <a:r>
              <a:t>    p(z | w_i) = Normal( mu(w_i),  Sigma )</a:t>
            </a:r>
            <a:br/>
            <a:r>
              <a:t>  • Mean Vector mu(w_i): Predicted by property-specific LightGBM regressors (300 trees, lr=0.05, 15 leaves, subsample 0.8).</a:t>
            </a:r>
            <a:br/>
            <a:r>
              <a:t>  • Covariance Matrix Sigma: Empirical out-of-fold residual covariance.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Note on Terminology: This is a latent Gaussian model with boosted-tree conditional mean, not a Gaussian Process regression (no kernel matrix).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The Power of the Full Covariance Matrix (Sigma)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Exploiting Natural Biogeochemical Stoichiometry:</a:t>
            </a:r>
            <a:br/>
            <a:r>
              <a:t>  • In soil science, chemical properties are tightly coupled by biological stoichiometry (e.g. Redfield-style C:N ratios).</a:t>
            </a:r>
            <a:br/>
            <a:r>
              <a:t>  • Because Sigma is a full covariance matrix rather than diagonal, the model encodes exact multi-analyte correlations.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Detecting Errors in Weakly Visible Properties:</a:t>
            </a:r>
            <a:br/>
            <a:r>
              <a:t>  • Smartphone colour (CIELAB) directly explains Organic Carbon well (R² = 0.70) but Total Nitrogen poorly (R² = 0.55 on KSSL).</a:t>
            </a:r>
            <a:br/>
            <a:r>
              <a:t>  • However, an erroneous Nitrogen value (e.g. typed 10x too high) severely violates the learned C:N covariance structure!</a:t>
            </a:r>
            <a:br/>
            <a:r>
              <a:t>  • Result: The system flags the Nitrogen reporting corruption as an internal contradiction, even when the witness alone has weak direct visibility.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Jacobian Density Transformation:</a:t>
            </a:r>
            <a:br/>
            <a:r>
              <a:t>  • Likelihood evaluations rigorously account for the variable change Jacobian: |J_{g o T_c^{-1}}(r_j)|.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Mathematical Formulation: Permutations &amp; Error Library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Structured Tray Permutation Subgroup (S_tray)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Combinatorial Challenge: For a 24-well laboratory tray, the full symmetric group S_24 has 24! ≈ 6.2 x 10^23 permutations, rendering exhaustive Bayesian search intractable.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The 281 Mechanistic Permutation Hypotheses (S_tray):</a:t>
            </a:r>
            <a:br/>
            <a:r>
              <a:t>  • Exact candidate set S_tray contains precisely 1 + 276 + 4 = 281 permutations:</a:t>
            </a:r>
            <a:br/>
            <a:r>
              <a:t>    1. Identity (pi_0): No handling mistake (clean batch).</a:t>
            </a:r>
            <a:br/>
            <a:r>
              <a:t>    2. Pair Transpositions: All C(24, 2) = 276 pair swaps, including the 23 physically adjacent vial transpositions.</a:t>
            </a:r>
            <a:br/>
            <a:r>
              <a:t>    3. Cyclic Tray Rotations: 4 permutations representing ±1 and ±2 position shifts (e.g. robotic tray misalignment).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Mechanistic Bayesian Prior P(pi):</a:t>
            </a:r>
            <a:br/>
            <a:r>
              <a:t>  • Total handling failure prior rho = 0.10 (benchmark setting).</a:t>
            </a:r>
            <a:br/>
            <a:r>
              <a:t>  • Distributed across mechanical failure modes:</a:t>
            </a:r>
            <a:br/>
            <a:r>
              <a:t>    - Adjacent transpositions: 50% mass (0.50 * rho / 23)</a:t>
            </a:r>
            <a:br/>
            <a:r>
              <a:t>    - Cyclic tray shifts: 30% mass (0.30 * rho / 4)</a:t>
            </a:r>
            <a:br/>
            <a:r>
              <a:t>    - Non-adjacent pair swaps: 20% mass (0.20 * rho / 253)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Typed Numerical Corruption Library (C)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Realistic Laboratory Data Entry Error Operators:</a:t>
            </a:r>
            <a:br/>
            <a:r>
              <a:t>  • Modeled at most one corrupted analyte value per report.</a:t>
            </a:r>
            <a:br/>
            <a:r>
              <a:t>  • Equal prior probability across 5 operational error groups: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1. Decimal Slip: r -&gt; r * 10 or r / 10</a:t>
            </a:r>
            <a:br/>
            <a:r>
              <a:t>   • Example: OC = 0.82% accidentally keyed as 8.20%.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2. Unit Confusion: Standard conversion factor mismatch</a:t>
            </a:r>
            <a:br/>
            <a:r>
              <a:t>   • Example: OC = 1.2% reported as 12.0 (g/kg).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3. Digit Transposition: Adjacent digits inverted</a:t>
            </a:r>
            <a:br/>
            <a:r>
              <a:t>   • Example: 0.16% typed as 0.61%.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4. Column Interchange: Two columns swapped</a:t>
            </a:r>
            <a:br/>
            <a:r>
              <a:t>   • Example: Organic Carbon and Nitrogen values interchanged.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5. Gross Analytical Error: Multiplicative error gamma in [0.2, 5.0]</a:t>
            </a:r>
            <a:br/>
            <a:r>
              <a:t>   • Example: Pipette calibration failure leading to 2x over-titration.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Uncorrupted Case: c = none explicitly included in C to enable clean posterior estimation.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Joint Batch Bayesian Inference Engine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Bayesian Mathematical Formulation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Marginal Report-Sample Evidence Likelihood L(j, i):</a:t>
            </a:r>
            <a:br/>
            <a:r>
              <a:t>  • Probability that report r_j originates from sample i with witness w_i, integrating over all possible corruptions c in C:</a:t>
            </a:r>
            <a:br/>
            <a:r>
              <a:t>    L(j, i) = Sum_{c in C} P(c) * phi( g(T_c^{-1}(r_j)); mu(w_i), Sigma ) * |J_{g o T_c^{-1}}(r_j)|</a:t>
            </a:r>
            <a:br/>
            <a:r>
              <a:t>  • Where phi is Gaussian density and J is the transformation Jacobian.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Batch Permutation Posterior P(pi | R, W):</a:t>
            </a:r>
            <a:br/>
            <a:r>
              <a:t>  • Exact posterior over the candidate permutation set S_tray:</a:t>
            </a:r>
            <a:br/>
            <a:r>
              <a:t>    P(pi | R, W) proportional to P(pi) * Prod_{j=1}^{24} [ L(j, pi(j)) / L(j, j) ]</a:t>
            </a:r>
            <a:br/>
            <a:r>
              <a:t>  • Normalised strictly over S_tray, ensuring exact inference.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Per-Report Decision Marginals:</a:t>
            </a:r>
            <a:br/>
            <a:r>
              <a:t>  • P(moved_j) = Sum_{pi in S_tray: pi(j) != j} P(pi | R, W)</a:t>
            </a:r>
            <a:br/>
            <a:r>
              <a:t>  • P(clean_j) = (1 - P(moved_j)) * P(c = none | r_j, w_j)</a:t>
            </a:r>
            <a:br/>
            <a:r>
              <a:t>  • Report Suspicion Score: s_j = 1 - P(clean_j)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Actionable Outputs &amp; Execution Throughput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Root-Cause Fault Attribution:</a:t>
            </a:r>
            <a:br/>
            <a:r>
              <a:t>  • If P(moved_j) &gt; P(clean_j): Diagnosed as Sample Swap, identifying the most probable swap partner k* = argmax_k P(pi(j)=k | R, W).</a:t>
            </a:r>
            <a:br/>
            <a:r>
              <a:t>  • If P(moved_j) &lt;= P(clean_j) and s_j is elevated: Diagnosed as Numerical Corruption, identifying fault type c* = argmax_{c != none} P(c | r_j, w_j).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Candidate Numerical Value Repair:</a:t>
            </a:r>
            <a:br/>
            <a:r>
              <a:t>  • Emits proposed corrected value r_corr = T_{c*}^{-1}(r_j) to assist laboratory technicians during investigation.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Computational Complexity &amp; Latency:</a:t>
            </a:r>
            <a:br/>
            <a:r>
              <a:t>  • Calculating L(j, i) takes 24 x 24 = 576 evaluations.</a:t>
            </a:r>
            <a:br/>
            <a:r>
              <a:t>  • Evaluating all 281 hypotheses takes 281 vector products.</a:t>
            </a:r>
            <a:br/>
            <a:r>
              <a:t>  • Total wall-clock latency: 17.9 ± 1.2 ms on consumer AMD Ryzen 5 CPU (pure Python / NumPy, zero GPU needed)!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Conformal Calibration &amp; Pseudo-Replication Theorem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The Pseudo-Replication Flaw Discovered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Conformal P-Value Mechanics:</a:t>
            </a:r>
            <a:br/>
            <a:r>
              <a:t>  • Calibration set S_cal = {s_1^cal, ..., s_N^cal} of clean reports.</a:t>
            </a:r>
            <a:br/>
            <a:r>
              <a:t>  • Conformal p-value for test report score s_j:</a:t>
            </a:r>
            <a:br/>
            <a:r>
              <a:t>    p_j = ( 1 + #{ k : s_k^cal &gt;= s_j } ) / ( N + 1 )</a:t>
            </a:r>
            <a:br/>
            <a:r>
              <a:t>  • Under exchangeability, p_j ~ Uniform(0, 1) on clean data, allowing Benjamini-Hochberg (BH) FDR control at level q = 0.10.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The Pseudo-Replication Defect (Decisions D-016 &amp; D-017):</a:t>
            </a:r>
            <a:br/>
            <a:r>
              <a:t>  • Initial step-5 implementation reused 511 calibration samples across 400 calibration batches.</a:t>
            </a:r>
            <a:br/>
            <a:r>
              <a:t>  • Counting the same sample multiple times created artificial score clustering, violating exchangeability.</a:t>
            </a:r>
            <a:br/>
            <a:r>
              <a:t>  • Consequence: Conformal p-values collapsed towards zero, inflating empirical FDR from 0.10 to 0.57 (57% false alarms)!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Scientific Integrity: Openly documented in research dossier as a design error rather than concealed.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The Mathematical Remedy &amp; Sample Complexity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The Proven Fix (One Score Per Distinct Sample):</a:t>
            </a:r>
            <a:br/>
            <a:r>
              <a:t>  • Restricting calibration to exactly one score per unique geographic soil sample (N ≈ 2,800 distinct samples on KSSL) restored true exchangeability.</a:t>
            </a:r>
            <a:br/>
            <a:r>
              <a:t>  • Empirical Result: Realised FDR immediately fell from 0.57 -&gt; 0.00 (well within nominal q = 0.10 bound)!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Finite-Sample Complexity Bound m / (q(N + 1)):</a:t>
            </a:r>
            <a:br/>
            <a:r>
              <a:t>  • Conformal p-values have a discrete minimum floor: 1 / (N + 1).</a:t>
            </a:r>
            <a:br/>
            <a:r>
              <a:t>  • For BH at level q over a pool of m reports, rejection requires at least m / ( q * (N + 1) ) reports to reach that floor.</a:t>
            </a:r>
            <a:br/>
            <a:r>
              <a:t>  • In large pools (m = 1,200), threshold requires 5 reports; power drops.</a:t>
            </a:r>
            <a:br/>
            <a:r>
              <a:t>  • Testing batch-by-batch (m = 24) completely eliminates this floor bottleneck, restoring EdaphNet detection power to 0.19 – 0.25 at FDR ≈ 0.10.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Implementation Details &amp; Technology Stack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371600"/>
                <a:gridCol w="512064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/ Module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 Rationale &amp; Architectural Purpose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Core Language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3.14 (64-bit)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Universal scientific ecosystem; unifies core algorithms, pipelines, and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Numeric &amp;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NumPy / SciPy / Pandas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2.5 / 1.18 /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Vectorized hypothesis evaluation, covariance modeling, chunked data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Machine 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LightGBM / Scikit-learn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4.7 / 1.9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Gradient-boosted decision trees for latent regression; fast CPU training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Colorimetry Science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colour-science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CIE 1976/2000 colorimetry, D65 illuminant, ΔE sensor noise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Edge Computer Vision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PyTorch / Torchvision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2.6 / 0.21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MobileNetV3-Large feature extraction for farmer leaf disease diagnosis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Verification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34 automated unit/integration tests passing in CI; bit-identical reproducibility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Demonstration Server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Python Standard HTTP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Zero-dependency offline web server hosting interactive virtual lab tray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297680"/>
            <a:ext cx="105156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Hardware Profile &amp; Memory-Lean Pipeline Engineering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Hardware Constraints: Standard consumer laptop CPU (AMD Ryzen 5 7520U, 4 cores / 8 threads, 2.80 GHz, 7.8 GB RAM).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Streaming Architecture: Large prediction matrices streamed in chunked batches; peak RAM usage strictly capped under 1.2 GB.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Deterministic Run Provenance: Seeds derived via SHA-256 stable hashing of (seed, rung, ordering); interrupted runs resume identically.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Baseline Implementations &amp; Fair Comparison Protocol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2926080"/>
                <a:gridCol w="1645920"/>
                <a:gridCol w="256032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ID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 Name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Scoring Principle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Witness Used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Vulnerability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Univariate Range Checks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Values outside [0.1%, 99.9%] train bounds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(Lab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Misses all sample swaps &amp; plausible corruptions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Stoichiometric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Hard domain rules (OC &lt;= 1.05 * Ctot)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(Lab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Blind to Nitrogen slips and unconstrained analytes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Lab-Only Density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Mahalanobis distance in log report space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(Lab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Swapped valid samples have typical density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Witness Marginal Interval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Individual analyte prediction intervals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Colour / Vis-NIR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Ignores multi-analyte covariance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Genomic Hungarian Matcher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Optimal bipartite reassignment (Broman 2015)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Colour / Vis-NIR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Only detects swaps; blind to single-value errors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Supervised 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200 trees trained on planted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Colour / Vis-NIR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Cheat baseline: knows true error distribution in advance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Rule-Based Repair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Greedy unit/decimal range converter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(Lab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Cannot diagnose swaps; low attribution accuracy (24%)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Cleanlab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Label-quality regression score (Zhou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(Lab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Scores individual rows; blind to tray permutations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663440"/>
            <a:ext cx="105156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Fairness Guarantees: All baselines evaluated on identical test batches with identical planted corruptions under Git commit 095deaa.</a:t>
            </a: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Verification Framework &amp; Scientific Research Charter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The Project Research Charter (Doc 08)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Core Principles of Research Integrity:</a:t>
            </a:r>
            <a:br/>
            <a:r>
              <a:t>  1. Zero Fabrication: No invented, smoothed, or cherry-picked metrics; every figure and table traces to an immutable JSON run record.</a:t>
            </a:r>
            <a:br/>
            <a:r>
              <a:t>  2. Pre-Registration: Pass/fail evaluation thresholds committed to Git prior to running tests (Commit 095deaa).</a:t>
            </a:r>
            <a:br/>
            <a:r>
              <a:t>  3. Open Reporting of Failures: Main claim A1 failed for colour witness; refutation of hypothesis H2 openly discussed and embraced.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Transparent Decision Audit Trail:</a:t>
            </a:r>
            <a:br/>
            <a:r>
              <a:t>  • 25 numbered, dated decisions in docs/decision_log.md.</a:t>
            </a:r>
            <a:br/>
            <a:r>
              <a:t>  • Tracks key architectural evolutions:</a:t>
            </a:r>
            <a:br/>
            <a:r>
              <a:t>    - D-002: Pivot from 'predict chemistry' to 'verify lab reports'.</a:t>
            </a:r>
            <a:br/>
            <a:r>
              <a:t>    - D-008: Detection of 23,852 empty OSSL spectral records.</a:t>
            </a:r>
            <a:br/>
            <a:r>
              <a:t>    - D-016: Diagnosis and fix of conformal pseudo-replication.</a:t>
            </a:r>
            <a:br/>
            <a:r>
              <a:t>    - D-025: Formal response to external technical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Comprehensive Software Verification Suite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34 Automated Pytest Checks Passing:</a:t>
            </a:r>
            <a:br/>
            <a:r>
              <a:t>  • test_core.py: Error operators, inverses, permutation sets, exact Bayesian inference, conformal p-values, BH step-up.</a:t>
            </a:r>
            <a:br/>
            <a:r>
              <a:t>  • test_real_data.py: Property sets, quantile transformations, CIELAB colorimetry, numerical precision.</a:t>
            </a:r>
            <a:br/>
            <a:r>
              <a:t>  • test_phone.py &amp; test_process_photos.py: Macbeth card color normalization, exposure checks, witness feature pipelines.</a:t>
            </a:r>
            <a:br/>
            <a:r>
              <a:t>  • test_app_*.py: Edge endpoints, crop suitability, leaf model.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Bit-Identical Reproducibility Tests:</a:t>
            </a:r>
            <a:br/>
            <a:r>
              <a:t>  • Resume Equivalence: Interrupted run resumed with --resume produces bit-for-bit identical floats.</a:t>
            </a:r>
            <a:br/>
            <a:r>
              <a:t>  • Rebuild Integrity: Dataset re-downloaded from OSSL bucket yields identical MD5 checksums across all 19,746 samples.</a:t>
            </a:r>
            <a:br/>
            <a:r>
              <a:t>  • Seed Stability: Multi-seed runs reproduce single-seed runs exactly.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Primary Results: Pre-Registered KSSL Benchmark (X5)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pic>
        <p:nvPicPr>
          <p:cNvPr id="7" name="Picture 6" descr="fig2_kssl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86400" cy="23774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6576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1280160"/>
                <a:gridCol w="548640"/>
              </a:tblGrid>
              <a:tr h="335280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Optical Witness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EdaphNet Recall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Baseline (B5)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 [95% CI]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(W0)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-0.033 [-0.049, -0.016]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Colour Perfect (W1_dE0)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+0.001 [-0.022, +0.023]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Colour Good Phone (W1_dE2)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+0.014 [-0.008, +0.038]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Marginal (+1.4%)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Colour Noisy Phone (W1_dE4)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+0.028 [+0.010, +0.049]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Stat Sig (+2.8%)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Spectrometer (W3)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+0.092 [+0.069, +0.113]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Decisive (+9.2%, p&lt;0.001)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188720"/>
            <a:ext cx="48463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Official Pre-Registered Verdicts (Doc 21)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Scale: 23,219 real soils, 50 settings, 5 seeds, 300 batches of 24 per setting (~7,200 reports/setting). Primary metric: Recall at 5% re-test budget.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Rule A1 [Recall Gain &gt;= +0.05 for Colour]:</a:t>
            </a:r>
            <a:br/>
            <a:r>
              <a:t>  • FAILED: Good phone colour attained +0.014 [-0.008, +0.038], falling short of pre-registered +0.05 threshold.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Rule A1-c [Non-inferiority in Clustered Batches]:</a:t>
            </a:r>
            <a:br/>
            <a:r>
              <a:t>  • PASSED: EdaphNet showed +0.013 and +0.010 advantage in geographically clustered batches (harder case).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Rule A2 [Shift-Aware False Alarm Control]:</a:t>
            </a:r>
            <a:br/>
            <a:r>
              <a:t>  • PASSED: Realised FDR stayed &lt;= 0.09 (well below nominal target q = 0.10).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Rule A3 [Attribution Accuracy &gt;= +0.20 over B6]:</a:t>
            </a:r>
            <a:br/>
            <a:r>
              <a:t>  • PASSED: Achieved 97%–100% vs 24%–29% for rule-based repair.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Refutation of Hypothesis H2:</a:t>
            </a:r>
            <a:br/>
            <a:r>
              <a:t>  • H2 hypothesized gain would be largest for weakest witness; refuted! Spectrometer (+0.092) outperformed colour (+0.014).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Analytical Deep Dive: Swaps vs. Values &amp; Error Mix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16</a:t>
            </a:r>
          </a:p>
        </p:txBody>
      </p:sp>
      <p:pic>
        <p:nvPicPr>
          <p:cNvPr id="7" name="Picture 6" descr="fig3_swap_vs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029200" cy="2194560"/>
          </a:xfrm>
          <a:prstGeom prst="rect">
            <a:avLst/>
          </a:prstGeom>
        </p:spPr>
      </p:pic>
      <p:pic>
        <p:nvPicPr>
          <p:cNvPr id="8" name="Picture 7" descr="fig5_error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02920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3566160"/>
            <a:ext cx="502920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Anatomy of the Net-Zero Result with Colour (Fig 3)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Two Cancelling Opposing Forces Under 5% Re-test Budget:</a:t>
            </a:r>
            <a:br/>
            <a:r>
              <a:t>  • Sample Swaps: EdaphNet dominates B5 by +10.3 to +11.4 percentage points! Independent colour detects swaps invisible to B5.</a:t>
            </a:r>
            <a:br/>
            <a:r>
              <a:t>  • Value Corruptions: EdaphNet trails B5 by 8.2 percentage points.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Budget Competition: When the model spends budget slots on newly discovered swaps, fewer slots remain for subtle numerical slips.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566160"/>
            <a:ext cx="502920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The Error-Mix Crossover Discovery (Fig 5)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Dominance Dictated by Laboratory Error Distribution:</a:t>
            </a:r>
            <a:br/>
            <a:r>
              <a:t>  • At 50/50 mix (equal swaps &amp; values), net gain is ~0.</a:t>
            </a:r>
            <a:br/>
            <a:r>
              <a:t>  • When swaps represent &gt;= 60%–70% of errors, smartphone colour decisively beats all existing baselines!</a:t>
            </a:r>
            <a:br/>
            <a:r>
              <a:t>  • With laboratory spectrometer (W3), EdaphNet wins across all operating mixes with &gt;= 30% swaps.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Fault Attribution Accuracy &amp; Unknown Error Robustness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286000"/>
                <a:gridCol w="27432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Setting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EdaphNet Error Type Attribution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Rule-Based Repair (B6)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EdaphNet Swap Partner Identification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KSSL, Spectrometer (Pre-reg A3)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97% – 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24% – 29%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95% – 98%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ICRAF-ISRIC (Colour W1 / Spectro W3)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89% – 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37% – 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75% – 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Synthetic Copula Simulation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84% – 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32% – 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86% – 98%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017520"/>
            <a:ext cx="512064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Root-Cause Attribution: The Decisive Clinical Value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Why Attribution Matters: A laboratory re-testing a flagged sample needs to know what went wrong—was it swapped with tray #12, or was decimal place shifted?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Massive Attribution Superiority (Pre-Registered A3 Passed):</a:t>
            </a:r>
            <a:br/>
            <a:r>
              <a:t>  • EdaphNet correctly diagnoses error type in 97%–100% of cases.</a:t>
            </a:r>
            <a:br/>
            <a:r>
              <a:t>  • Correctly points to exact swap partner sample in 95%–98% of swap cases.</a:t>
            </a:r>
            <a:br/>
            <a:r>
              <a:t>  • Competing baselines (B5, B7) only provide black-box scores; B6 repair manages only 24%–29% attribution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017520"/>
            <a:ext cx="512064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Robustness to Unknown Error Types (Experiment X7)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Evaluating Out-of-Library Corruptions (5 Seeds):</a:t>
            </a:r>
            <a:br/>
            <a:r>
              <a:t>  • Injected 4 error types completely absent from library C: x100 errors, gross x4-8, neighbor-copied values, dropped digits.</a:t>
            </a:r>
            <a:br/>
            <a:r>
              <a:t>  • Robust Swap Gain Retained: Phone colour retained +0.103 [+0.069, +0.137] swap advantage; Spectrometer retained +0.147.</a:t>
            </a:r>
            <a:br/>
            <a:r>
              <a:t>  • Detectability: Large corruptions (x100) caught with 99% recall; subtle dropped digits remain hard for all checkers.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Live Demonstration &amp; Interactive System Walkthrough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3832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Case 1: Clean Valid Sample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Input: Real KSSL soil photo &amp; matching laboratory report.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Pipeline: Optical colour predicts OC=2.2%, N=0.21%.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Report: OC=2.24%, N=0.234% (consistent).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Engine Verdict: Suspicion dial reads 0.02 (Green / Clean).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Action: Certificate autoverified and released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88720"/>
            <a:ext cx="33832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Case 2: Nitrogen Decimal Slip (x10)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Input: Real KSSL sample with keystroke slip in lab report.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Report: Nitrogen keyed as 2.34% (10x higher than true 0.234%).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Engine Verdict: Suspicion dial reads 0.98 (Red / Highly Suspicious).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Attribution: Diagnosed as 'Decimal Slip (x10)'.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Candidate Repair: Suggests N = 0.234% to technician.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188720"/>
            <a:ext cx="33832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Case 3: Tray Swap (#2 &lt;-&gt; #9)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Input: Physical vial #2 swapped with vial #9 in 12-well tray.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Report: Chemically plausible, but contradicts optical witness.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Engine Verdict: Suspicion 0.95; Flags multi-analyte mismatch.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Attribution: Identifies sample #9 as swap partner (98% prob).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Action: Both vials routed to re-test queue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051560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Interactive Demonstrator Suite (Running Locally on Port 8000)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1. Interactive Batch Checker: 12-well/24-well virtual laboratory tray displaying real-time Bayesian hypothesis ranking and re-test prioritization.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2. Farmer Decision Assistant: MobileNetV3 leaf disease classification and FAO EcoCrop suitability engine integrated into single local web application.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Conclusion, Project Outcomes &amp; Future Work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Project Conclusions &amp; Academic Deliverables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Key Scientific Takeaways:</a:t>
            </a:r>
            <a:br/>
            <a:r>
              <a:t>  1. Independent optical sensing unlocks the detection of sample swaps that are mathematically invisible to conventional lab QA.</a:t>
            </a:r>
            <a:br/>
            <a:r>
              <a:t>  2. Cheap smartphone colour provides a +10 point swap advantage; laboratory Vis-NIR spectroscopy provides a decisive +9.2 point overall gain (p &lt; 0.001).</a:t>
            </a:r>
            <a:br/>
            <a:r>
              <a:t>  3. Discovered and resolved conformal pseudo-replication, proving that sample reuse breaks multi-sample false-alarm bounds.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Tangible Academic Deliverables:</a:t>
            </a:r>
            <a:br/>
            <a:r>
              <a:t>  • Complete IEEE Transactions Manuscript: Formatted in IEEE two-column layout (6 figures, revised 26 Oct 2026), targeting IEEE TAFE / TIM.</a:t>
            </a:r>
            <a:br/>
            <a:r>
              <a:t>  • Comprehensive 38-Page Technical Project Dossier (v1.1).</a:t>
            </a:r>
            <a:br/>
            <a:r>
              <a:t>  • Working Production Codebase: 59 Git commits with complete provenance, run logs, and 34 automated passing tests.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Intellectual Property Position:</a:t>
            </a:r>
            <a:br/>
            <a:r>
              <a:t>  • Software method assessed under Indian Patent Act Section 3(k); recommended path: Open-source dissemination via Zenodo with reserved DOI.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Future Work: Phase-II Roadmap (Paper 2)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1. Combined Two-Stage Re-Test Policy (Amendment v3):</a:t>
            </a:r>
            <a:br/>
            <a:r>
              <a:t>  • Fuse EdaphNet's permutation engine (specialized for swaps) with deterministic stoichiometric checkers (specialized for value errors).</a:t>
            </a:r>
            <a:br/>
            <a:r>
              <a:t>  • Eliminates the budget trade-off, achieving combined recall of 0.20-0.25 on swaps and 0.22 on value corruptions.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2. Paper 2 Field Pilot with Indian Laboratory:</a:t>
            </a:r>
            <a:br/>
            <a:r>
              <a:t>  • Pilot study on 30–50 real Indian soil samples in collaboration with VIT VAIAL soil laboratory.</a:t>
            </a:r>
            <a:br/>
            <a:r>
              <a:t>  • Capture real smartphone photos with 24-patch Macbeth colour cards under natural farmer lighting conditions.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3. Blind Duplicate Validation:</a:t>
            </a:r>
            <a:br/>
            <a:r>
              <a:t>  • Send 25% blind duplicate samples to commercial laboratories to measure true baseline laboratory error rates and operational cost savings.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4. Transfer to Additional Agronomic Analytes:</a:t>
            </a:r>
            <a:br/>
            <a:r>
              <a:t>  • Extend latent models to micronutrients (Zn, Fe, Cu) and Soil Health Card panels.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>
              <a:defRPr sz="2200" b="1">
                <a:solidFill>
                  <a:srgbClr val="0E2B5C"/>
                </a:solidFill>
                <a:latin typeface="Calibri"/>
              </a:defRPr>
            </a:pPr>
            <a:r>
              <a:t>References &amp; Institutional Acknowledgments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28-10-2026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4008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Principal Literature Citations (IEEE Style)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[1] R. J. Even et al., 'Large errors in soil carbon measurements attributed to inconsistent sample processing,' SOIL, vol. 11, no. 1, pp. 17–34, 2025.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[2] J. L. Safanelli et al., 'Open Soil Spectral Library (OSSL): Building reproducible soil calibration models through open development,' PLOS ONE, vol. 20, no. 1, p. e0296545, 2025.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[3] S. Bates, E. Candès, L. Lei, Y. Romano, and M. Sesia, 'Testing for outliers with conformal p-values,' The Annals of Statistics, vol. 51, no. 1, pp. 149–178, 2023.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[4] Y. Jin and E. Candès, 'Selection by prediction with conformal p-values,' Journal of the American Statistical Association, vol. 118, no. 544, pp. 2533–2545, 2023.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[5] K. W. Broman et al., 'Identification and correction of sample mix-ups in expression genetic data: A case study,' G3: Genes, Genomes, Genetics, vol. 5, no. 10, pp. 2177–2186, 2015.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[6] H. Zhou, J. Mueller, M. Kumar, J.-L. Wang, and J. Lei, 'Detecting errors in a numerical response via any regression model,' arXiv:2305.16583, 2023.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[7] Y. Benjamini and Y. Hochberg, 'Controlling the false discovery rate: A practical and powerful approach to multiple testing,' J. R. Stat. Soc. B, vol. 57, pp. 289–300, 1995.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[8] R. A. Viscarra Rossel et al., 'A global spectral library to characterize the world's soil,' Earth-Science Reviews, vol. 155, pp. 198–230, 2016.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188720"/>
            <a:ext cx="38404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E2B5C"/>
                </a:solidFill>
                <a:latin typeface="Calibri"/>
              </a:defRPr>
            </a:pPr>
            <a:r>
              <a:t>Institutional Acknowledgments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Faculty Supervisor &amp; Mentor:</a:t>
            </a:r>
            <a:br/>
            <a:r>
              <a:t>  • Heartfelt gratitude to Dr. Priya Saminathan, Associate Professor, SCOPE, VIT Vellore, for continuous intellectual guidance, rigorous feedback, and mentorship.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Institutional Support:</a:t>
            </a:r>
            <a:br/>
            <a:r>
              <a:t>  • School of Computer Science and Engineering (SCOPE), Vellore Institute of Technology (VIT), Vellore.</a:t>
            </a:r>
            <a:br/>
            <a:r>
              <a:t>  • Centre for Agricultural Research and Technology (VIT VAIAL).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Open Data Initiatives:</a:t>
            </a:r>
            <a:br/>
            <a:r>
              <a:t>  • Open Soil Spectral Library (OSSL) project and USDA-NRCS Kellogg Soil Survey Laboratory (KSSL) for hosting public soil spectral data repositories.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3945</Words>
  <Application>Microsoft Office PowerPoint</Application>
  <PresentationFormat>Widescreen</PresentationFormat>
  <Paragraphs>446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B.Tech  |  BCSE497J – Project-I   AgriSense AI: An Explainable Smart Crop Health Management System (implemented as EdaphNet — Posterior-Propagating, Reliability-Gated Crop Recommendation from Soil Photographs)</vt:lpstr>
      <vt:lpstr>Approval Mail From Guide</vt:lpstr>
      <vt:lpstr>Aim</vt:lpstr>
      <vt:lpstr>Abstract</vt:lpstr>
      <vt:lpstr>Literature Review  (1 / 2)</vt:lpstr>
      <vt:lpstr>Literature Review  (2 / 2)</vt:lpstr>
      <vt:lpstr>Research Gap</vt:lpstr>
      <vt:lpstr>Objectives</vt:lpstr>
      <vt:lpstr>Novelty, Contributions and Advantages</vt:lpstr>
      <vt:lpstr>Datasets Used, and Why Each Was Chosen</vt:lpstr>
      <vt:lpstr>The Dataset Audit — the Project's Central Finding</vt:lpstr>
      <vt:lpstr>Framework / Architecture / Block Diagram</vt:lpstr>
      <vt:lpstr>Functional Requirements</vt:lpstr>
      <vt:lpstr>Modules  (1 / 2)</vt:lpstr>
      <vt:lpstr>Modules  (2 / 2)</vt:lpstr>
      <vt:lpstr>Uncertainty Quantification and Abstention</vt:lpstr>
      <vt:lpstr>The Algorithm — Posterior-Propagating Bridge</vt:lpstr>
      <vt:lpstr>How the Models Were Trained</vt:lpstr>
      <vt:lpstr>Model Selection — Six Candidates Benchmarked</vt:lpstr>
      <vt:lpstr>Falsification Testing of the Bridge</vt:lpstr>
      <vt:lpstr>How Project Efficiency Was Evaluated</vt:lpstr>
      <vt:lpstr>Experiments and Results  (1 / 2)</vt:lpstr>
      <vt:lpstr>Experiments and Results  (2 / 2)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udit shokeen</cp:lastModifiedBy>
  <cp:revision>6</cp:revision>
  <dcterms:created xsi:type="dcterms:W3CDTF">2026-07-14T06:00:41Z</dcterms:created>
  <dcterms:modified xsi:type="dcterms:W3CDTF">2026-09-09T05:55:58Z</dcterms:modified>
</cp:coreProperties>
</file>